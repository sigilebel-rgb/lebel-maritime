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el sistema como plataforma propia de Quality &amp; Shipping para respaldar su servicio de port captain a Aceros Arequipa en Matarani. Desarrollo nuevo, con la imagen corporativa de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rol de port captain y cómo la plataforma convierte ese servicio en información verificable para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Alcance acotado: cuatro tipos de registro. El trabajo se genera en Matarani, pero el diseño queda abierto a otros puertos donde Quality preste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 clave respecto de una bitácora tradicional: cada turno queda con fotos y con los nombres de las personas que interactuaron, lo que da trazabilidad total al servicio de port captain.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módulo es el corazón del servicio: convierte la supervisión de estiba en un expediente digital con checklist, fotos y responsables. Útil ante reclamos de carga dañada o disputas con el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categorías de responsabilidad. Esta clasificación permite después discutir con datos quién causó cada tiempo perdido.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Hitos por escala con fechas estimadas y reales. La espera de atraque queda medida y documentada, separada de la operación misma.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perfiles principales: Quality ingresa y administra; Aceros Arequipa consulta en línea (y puede habilitarse ingreso si lo requiere). Todo respaldado en la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Pantallas reales: gestión de flota con datos técnicos de la nave y viajes con escalas; y la bitácora de turno con indicadores calculados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ejecutivo imprimible con la marca Quality, y el análisis de detenciones por responsabilidad — la base objetiva para discutir tiempos perdidos.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Estructura: pago único de desarrollo USD 1.200 + servicio mensual USD 400 (total año 1: USD 6.000). Boleta de honorarios, pago los primeros 5 días de cada mes, hasta 5 usuarios operativos y un acceso de observación (solo lectura) para el cliente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beneficios y plan. Al pie queda establecido que la propuesta la presenta Lebel Maritime Systems (Sigfredo Lebel) a Quality &amp; Shipping SPA.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371600"/>
            <a:ext cx="4206240" cy="4206240"/>
          </a:xfrm>
          <a:prstGeom prst="ellipse">
            <a:avLst/>
          </a:prstGeom>
          <a:solidFill>
            <a:srgbClr val="8C6D2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200400"/>
            <a:ext cx="2926080" cy="2926080"/>
          </a:xfrm>
          <a:prstGeom prst="ellipse">
            <a:avLst/>
          </a:prstGeom>
          <a:solidFill>
            <a:srgbClr val="B08D3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3749040"/>
            <a:ext cx="3108960" cy="3108960"/>
          </a:xfrm>
          <a:prstGeom prst="ellipse">
            <a:avLst/>
          </a:prstGeom>
          <a:solidFill>
            <a:srgbClr val="8C6D2C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6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39433"/>
            <a:ext cx="1051560" cy="8814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48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SHIPPING SPA · SHIPPING OPERATIONS ADVISORS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2423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Control Portuario Quality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9436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para el servicio de Port Captain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pPr indent="0" marL="0">
              <a:buNone/>
            </a:pPr>
            <a:r>
              <a:rPr lang="en-US" sz="13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Aceros Arequipa</a:t>
            </a:r>
            <a:pPr indent="0" marL="0">
              <a:buNone/>
            </a:pPr>
            <a:r>
              <a:rPr lang="en-US" sz="13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Puerto de Matarani, Arequipa — Perú   ·   Julio 2026</a:t>
            </a:r>
            <a:endParaRPr lang="en-US" sz="1300" dirty="0"/>
          </a:p>
        </p:txBody>
      </p:sp>
      <p:pic>
        <p:nvPicPr>
          <p:cNvPr id="11" name="Image 1" descr="lebel-maritime/logo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2628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456285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 </a:t>
            </a:r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LEBEL MARITIME SYSTEMS</a:t>
            </a:r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Desarrollo de proyectos de control de puertos y flota naviera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Captain: los ojos del cliente en el puerto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37160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4088" y="1591056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" y="1721815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71600" y="1883664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Shipping supervisa la operación en nombre de Aceros Arequipa durante toda la recalada.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800600" y="137160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01768" y="1591056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527" y="1721815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1572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estiba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669280" y="1883664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que la estiba y trinca de la carga se realicen de forma correcta y segura.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02920" y="3127248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4088" y="3346704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" y="3477463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3284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3639312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Interlocución con terminal, nave y estibadores; seguimiento de tiempos e hitos de la escala.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800600" y="3127248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01768" y="3346704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527" y="3477463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69280" y="33284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documental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669280" y="3639312"/>
            <a:ext cx="2926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fotográfico y trazable de cada turno, con identificación de las personas que intervienen.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digitaliza este servicio: cada verificación queda registrada, respaldada y disponible en línea.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Alcance: cuatro registros esenciales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simple, hecha a la medida del servicio, para ingresar y consultar la operación en tiempo real.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módulos innecesarios: solo lo que el control portuario requiere.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36576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41414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3913632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4044391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840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base: Matarani (Arequipa)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abierta a incorporar otros puertos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160520" y="1371600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25112" y="1499616"/>
            <a:ext cx="475488" cy="47548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739" y="1623243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6048" y="14630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56048" y="17556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operacionales de cada turno de trabajo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160520" y="2240280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325112" y="2368296"/>
            <a:ext cx="475488" cy="47548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739" y="2491923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56048" y="2331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56048" y="2624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Detenciones con horas y responsabilidad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160520" y="3108960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25112" y="3236976"/>
            <a:ext cx="475488" cy="47548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739" y="3360603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56048" y="3200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· ETB · ETD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956048" y="34930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 la recalada: arribo, atraque y zarpe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160520" y="3977640"/>
            <a:ext cx="4480560" cy="749808"/>
          </a:xfrm>
          <a:prstGeom prst="roundRect">
            <a:avLst>
              <a:gd name="adj" fmla="val 9756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325112" y="4105656"/>
            <a:ext cx="475488" cy="47548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739" y="4229283"/>
            <a:ext cx="228234" cy="22823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56048" y="4069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personas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956048" y="4361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fotográfica con nombres de quienes intervienen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por turnos con evidencia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26464"/>
            <a:ext cx="384048" cy="38404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72" y="1526316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371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y horario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383280" y="137160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turno (mañana / tarde / noche) y horas reales de inicio y término, con soporte de cruce de medianoche.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02920" y="2267712"/>
            <a:ext cx="384048" cy="38404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2" y="2367564"/>
            <a:ext cx="184343" cy="184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avance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83280" y="221284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bodega, tonelaje movido y tipo de operación (embarque / descarga) por turno.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3108960"/>
            <a:ext cx="384048" cy="38404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72" y="3208812"/>
            <a:ext cx="184343" cy="1843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0540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intervienen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383280" y="3054096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rol de cada participante del turno: port captain, supervisor de nave, foreman, jefe de cuadrilla.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02920" y="3950208"/>
            <a:ext cx="384048" cy="384048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72" y="4050060"/>
            <a:ext cx="184343" cy="18434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389534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fotográfico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3383280" y="3895344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la operación y de la estiba en cada turno, almacenadas en la nube y asociadas al responsable que las captura.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y verificación de la estiba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25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 captain certifica en el sistema que la estiba se realizó de buena forma, bodega por bodega, dejando constancia verificable para el cliente y para la nave.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02920" y="210312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97864" y="2304288"/>
            <a:ext cx="548640" cy="54864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10" y="244693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072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por bodega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21792" y="3474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control de estiba y trinca: distribución, aseguramiento, protección de la carga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624328" y="210312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19272" y="2304288"/>
            <a:ext cx="548640" cy="54864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18" y="244693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97480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fotográfica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743200" y="3474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del antes / durante / después de la estiba, asociadas a cada bodega y turno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45736" y="210312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40680" y="2304288"/>
            <a:ext cx="548640" cy="54864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326" y="2446934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18888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identificado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64608" y="3474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verificación firma quién la realizó y quiénes estuvieron presentes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867144" y="2103120"/>
            <a:ext cx="1938528" cy="2148840"/>
          </a:xfrm>
          <a:prstGeom prst="roundRect">
            <a:avLst>
              <a:gd name="adj" fmla="val 3774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62088" y="2304288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734" y="244693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0296" y="297180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986016" y="3474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conformidades y acciones correctivas registradas y notificadas de inmediato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un expediente digital de estiba por cada recalada, listo para respaldar reclamos o certificar la buena ejecución.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Demoras y detenciones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258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detención se registra con hora de inicio y término, bodega afectada, motivo y responsabilidad — la base objetiva para analizar tiempos perdidos en la recalada.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97864" y="2350008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10" y="249265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0175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80" y="3337560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de grúa, winches, maquinaria del buque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624328" y="21488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19272" y="2350008"/>
            <a:ext cx="548640" cy="548640"/>
          </a:xfrm>
          <a:prstGeom prst="ellipse">
            <a:avLst/>
          </a:prstGeom>
          <a:solidFill>
            <a:srgbClr val="8C6D2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918" y="249265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15768" y="30175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/ Terminal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761488" y="3337560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Congestión de muelle, falta de camiones o sitio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45736" y="21488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40680" y="2350008"/>
            <a:ext cx="548640" cy="54864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326" y="2492654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37176" y="30175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Estibadores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882896" y="3337560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Charlas de seguridad, check-list, trinca, relevos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67144" y="21488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7F3E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62088" y="2350008"/>
            <a:ext cx="548640" cy="548640"/>
          </a:xfrm>
          <a:prstGeom prst="ellipse">
            <a:avLst/>
          </a:prstGeom>
          <a:solidFill>
            <a:srgbClr val="D9BE7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734" y="249265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58584" y="30175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004304" y="3337560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Lluvia, viento, marejada, cierre de puerto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demoras quedan asociadas al turno y a la escala: un solo ingreso alimenta el resumen de tiempos de toda la recalada.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Hitos de la recalada: ETA · ETB · ETD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6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espera de atraque (ETA → ETB) queda documentada como tiempo de espera, separada del desempeño operacional.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14400" y="2670048"/>
            <a:ext cx="7315200" cy="0"/>
          </a:xfrm>
          <a:prstGeom prst="line">
            <a:avLst/>
          </a:prstGeom>
          <a:noFill/>
          <a:ln w="38100">
            <a:solidFill>
              <a:srgbClr val="B08D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77440"/>
            <a:ext cx="585216" cy="5852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39572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" y="3154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Arribo a rada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" y="34564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Llegada estimada / real de la nave al puerto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77640" y="2377440"/>
            <a:ext cx="585216" cy="5852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239572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3154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Atraque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00400" y="34564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a sitio y espera de atraque medida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40880" y="2377440"/>
            <a:ext cx="585216" cy="5852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6" name="Text 13"/>
          <p:cNvSpPr/>
          <p:nvPr/>
        </p:nvSpPr>
        <p:spPr>
          <a:xfrm>
            <a:off x="6720840" y="2395728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3154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Zarpe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34564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de operaciones y salida de la nave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estimadas y reales por cada escala, con historial de revisiones (ETA revisada) y visibilidad inmediata para todos los usuarios autorizados.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actor ve lo que le corresponde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" y="1502359"/>
            <a:ext cx="241402" cy="241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353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Shipping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611880" y="135331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captains y administración: ingreso completo de turnos, estiba, demoras e hitos; gestión de usuarios.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" y="2240280"/>
            <a:ext cx="502920" cy="50292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237103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221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Aceros Arequipa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611880" y="22219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cliente: consulta en línea de avance, fotos, demoras e hitos de sus naves; sin acceso a datos de terceros.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323971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090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la nube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611880" y="30906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y fotografías respaldadas en la nube, disponibles en tiempo real y con historial completo.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02920" y="3977640"/>
            <a:ext cx="502920" cy="502920"/>
          </a:xfrm>
          <a:prstGeom prst="ellipse">
            <a:avLst/>
          </a:prstGeom>
          <a:solidFill>
            <a:srgbClr val="B08D3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" y="410839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959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web y móvil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3611880" y="39593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sin instalación, usable desde el celular en el muelle o desde la oficina.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 OPERACIÓN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Pantallas reales del sistema</a:t>
            </a:r>
            <a:endParaRPr lang="en-US" sz="2600" dirty="0"/>
          </a:p>
        </p:txBody>
      </p:sp>
      <p:pic>
        <p:nvPicPr>
          <p:cNvPr id="4" name="Image 0" descr="scr_flo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17320"/>
            <a:ext cx="4069080" cy="2278685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0040" y="3741725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&amp; Viajes — naves con ficha técnica, voyage y escalas con ETA/ETB/ETD</a:t>
            </a:r>
            <a:endParaRPr lang="en-US" sz="1100" dirty="0"/>
          </a:p>
        </p:txBody>
      </p:sp>
      <p:pic>
        <p:nvPicPr>
          <p:cNvPr id="6" name="Image 1" descr="scr_bitaco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4069080" cy="233565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754880" y="37986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Turno — registro por turno con KPIs en vivo y first/last hook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 OPERACIÓN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Informes y análisis de demoras</a:t>
            </a:r>
            <a:endParaRPr lang="en-US" sz="2600" dirty="0"/>
          </a:p>
        </p:txBody>
      </p:sp>
      <p:pic>
        <p:nvPicPr>
          <p:cNvPr id="4" name="Image 0" descr="scr_infor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3611880" cy="2712522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65760" y="412984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Ejecutivo PDF — ficha de la nave, avance y saldos por bodega</a:t>
            </a:r>
            <a:endParaRPr lang="en-US" sz="1100" dirty="0"/>
          </a:p>
        </p:txBody>
      </p:sp>
      <p:pic>
        <p:nvPicPr>
          <p:cNvPr id="6" name="Image 1" descr="scr_repor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54480"/>
            <a:ext cx="4343400" cy="2688565"/>
          </a:xfrm>
          <a:prstGeom prst="rect">
            <a:avLst/>
          </a:prstGeom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343400" y="4288765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por Nave — detenciones por responsabilidad y causa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ECONÓMICA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referencial — 12 meses</a:t>
            </a:r>
            <a:endParaRPr lang="en-US" sz="2900" dirty="0"/>
          </a:p>
        </p:txBody>
      </p:sp>
      <p:pic>
        <p:nvPicPr>
          <p:cNvPr id="4" name="Image 0" descr="logo_m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320040"/>
            <a:ext cx="566928" cy="475219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9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9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Incluye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9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(USD)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de desarrollo e implementación (pago único)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a la medida con imagen Quality · módulos de flota, turnos, estiba, demoras e hitos · registro fotográfico en nube (10 fotos por bodega) · informes ejecutivos PDF · puesta en marcha y capacitación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mensual (×12)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 y soporte · actualizaciones y mejoras continuas · hosting, respaldos y almacenamiento fotográfico · hasta 5 usuarios + 1 acceso de observación para el cliente 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/ 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año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+ 12 meses de servicio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C6D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297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Condiciones:  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vía boleta de honorarios · servicio mensual pagadero dentro de los primeros 5 días de cada mes · hasta 5 usuarios operativos más un acceso de solo observación para el cliente final · valores netos · validez de la oferta: 30 días.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3474720" cy="3474720"/>
          </a:xfrm>
          <a:prstGeom prst="ellipse">
            <a:avLst/>
          </a:prstGeom>
          <a:solidFill>
            <a:srgbClr val="8C6D2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840480"/>
            <a:ext cx="2743200" cy="2743200"/>
          </a:xfrm>
          <a:prstGeom prst="ellipse">
            <a:avLst/>
          </a:prstGeom>
          <a:solidFill>
            <a:srgbClr val="B08D3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PRÓXIMOS PASOS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servicio de port captain con respaldo digital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90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71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cada turno con fotos, nombres y verificación de estiba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93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90195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en línea para Aceros Arequipa durante toda la recalada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5973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4323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objetiva de tiempos y demoras para respaldar decisiones y reclamos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9008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9626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F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nuevos puertos y clientes de Quality &amp; Shipping sin re-desarrollo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7178040" y="1280160"/>
            <a:ext cx="14630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pic>
        <p:nvPicPr>
          <p:cNvPr id="15" name="Image 4" descr="qr_d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89888"/>
            <a:ext cx="1188720" cy="11887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23760" y="2606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Conozca más en</a:t>
            </a:r>
            <a:endParaRPr lang="en-US" sz="8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sigilebel-rgb.github.io/</a:t>
            </a:r>
            <a:endParaRPr lang="en-US" sz="8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lebel-maritime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502920" y="36118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8C6D2C"/>
          </a:solidFill>
          <a:ln/>
        </p:spPr>
      </p:sp>
      <p:sp>
        <p:nvSpPr>
          <p:cNvPr id="18" name="Text 11"/>
          <p:cNvSpPr/>
          <p:nvPr/>
        </p:nvSpPr>
        <p:spPr>
          <a:xfrm>
            <a:off x="777240" y="36850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 </a:t>
            </a:r>
            <a:pPr indent="0" marL="0">
              <a:buNone/>
            </a:pPr>
            <a:r>
              <a:rPr lang="en-US" sz="1250" dirty="0">
                <a:solidFill>
                  <a:srgbClr val="F5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Validar alcance y propuesta  ·  2) Desarrollo e imagen Quality  ·  3) Piloto en la próxima recalada en Matarani  ·  4) Puesta en marcha</a:t>
            </a:r>
            <a:endParaRPr lang="en-US" sz="1250" dirty="0"/>
          </a:p>
        </p:txBody>
      </p:sp>
      <p:pic>
        <p:nvPicPr>
          <p:cNvPr id="19" name="Image 5" descr="lebel-maritime/logo-51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572000"/>
            <a:ext cx="475488" cy="4754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70432" y="45262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para:  </a:t>
            </a:r>
            <a:pPr indent="0" marL="0">
              <a:buNone/>
            </a:pPr>
            <a:r>
              <a:rPr lang="en-US" sz="11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Shipping SPA — Luis Díaz Fuentealba, General Manager (Chile – Perú)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1170432" y="47914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presentada por: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Lebel Maritime Systems — Sigfredo Lebel · sigilebel@hotmail.com · sigilebel-rgb.github.io/lebel-maritime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 Portuario Quality</dc:title>
  <dc:subject>PptxGenJS Presentation</dc:subject>
  <dc:creator>Quality &amp; Shipping SPA</dc:creator>
  <cp:lastModifiedBy>Quality &amp; Shipping SPA</cp:lastModifiedBy>
  <cp:revision>1</cp:revision>
  <dcterms:created xsi:type="dcterms:W3CDTF">2026-07-08T00:06:28Z</dcterms:created>
  <dcterms:modified xsi:type="dcterms:W3CDTF">2026-07-08T00:06:28Z</dcterms:modified>
</cp:coreProperties>
</file>